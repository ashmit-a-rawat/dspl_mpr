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stha Bhansali" userId="93d4311b03bc96cf" providerId="LiveId" clId="{25E6B215-AF99-48B7-8CA7-2C951D307479}"/>
    <pc:docChg chg="undo custSel addSld modSld">
      <pc:chgData name="Aastha Bhansali" userId="93d4311b03bc96cf" providerId="LiveId" clId="{25E6B215-AF99-48B7-8CA7-2C951D307479}" dt="2026-04-12T13:30:27.407" v="244"/>
      <pc:docMkLst>
        <pc:docMk/>
      </pc:docMkLst>
      <pc:sldChg chg="addSp delSp modSp add mod">
        <pc:chgData name="Aastha Bhansali" userId="93d4311b03bc96cf" providerId="LiveId" clId="{25E6B215-AF99-48B7-8CA7-2C951D307479}" dt="2026-04-12T13:26:36.094" v="164" actId="1076"/>
        <pc:sldMkLst>
          <pc:docMk/>
          <pc:sldMk cId="1163285264" sldId="264"/>
        </pc:sldMkLst>
        <pc:spChg chg="del mod">
          <ac:chgData name="Aastha Bhansali" userId="93d4311b03bc96cf" providerId="LiveId" clId="{25E6B215-AF99-48B7-8CA7-2C951D307479}" dt="2026-04-12T13:19:44.752" v="3" actId="21"/>
          <ac:spMkLst>
            <pc:docMk/>
            <pc:sldMk cId="1163285264" sldId="264"/>
            <ac:spMk id="6" creationId="{740E5419-A4FF-E559-93C0-1BA214B808BB}"/>
          </ac:spMkLst>
        </pc:spChg>
        <pc:spChg chg="mod">
          <ac:chgData name="Aastha Bhansali" userId="93d4311b03bc96cf" providerId="LiveId" clId="{25E6B215-AF99-48B7-8CA7-2C951D307479}" dt="2026-04-12T13:19:56.348" v="4" actId="20577"/>
          <ac:spMkLst>
            <pc:docMk/>
            <pc:sldMk cId="1163285264" sldId="264"/>
            <ac:spMk id="7" creationId="{2BFDEF73-E0C0-6A15-B8F8-51F0848E5D72}"/>
          </ac:spMkLst>
        </pc:spChg>
        <pc:spChg chg="mod">
          <ac:chgData name="Aastha Bhansali" userId="93d4311b03bc96cf" providerId="LiveId" clId="{25E6B215-AF99-48B7-8CA7-2C951D307479}" dt="2026-04-12T13:26:36.094" v="164" actId="1076"/>
          <ac:spMkLst>
            <pc:docMk/>
            <pc:sldMk cId="1163285264" sldId="264"/>
            <ac:spMk id="8" creationId="{249E1958-5576-A4BF-9B9D-66F4230FD54F}"/>
          </ac:spMkLst>
        </pc:spChg>
        <pc:spChg chg="mod">
          <ac:chgData name="Aastha Bhansali" userId="93d4311b03bc96cf" providerId="LiveId" clId="{25E6B215-AF99-48B7-8CA7-2C951D307479}" dt="2026-04-12T13:21:43.643" v="58" actId="20577"/>
          <ac:spMkLst>
            <pc:docMk/>
            <pc:sldMk cId="1163285264" sldId="264"/>
            <ac:spMk id="9" creationId="{7EC55AA2-0DF5-BB4C-C240-1732232BBE7D}"/>
          </ac:spMkLst>
        </pc:spChg>
        <pc:spChg chg="mod">
          <ac:chgData name="Aastha Bhansali" userId="93d4311b03bc96cf" providerId="LiveId" clId="{25E6B215-AF99-48B7-8CA7-2C951D307479}" dt="2026-04-12T13:26:32.383" v="163" actId="1076"/>
          <ac:spMkLst>
            <pc:docMk/>
            <pc:sldMk cId="1163285264" sldId="264"/>
            <ac:spMk id="10" creationId="{A4344495-347C-5B5B-3AFB-3E7BA4F7E30B}"/>
          </ac:spMkLst>
        </pc:spChg>
        <pc:spChg chg="mod">
          <ac:chgData name="Aastha Bhansali" userId="93d4311b03bc96cf" providerId="LiveId" clId="{25E6B215-AF99-48B7-8CA7-2C951D307479}" dt="2026-04-12T13:21:48.482" v="59" actId="20577"/>
          <ac:spMkLst>
            <pc:docMk/>
            <pc:sldMk cId="1163285264" sldId="264"/>
            <ac:spMk id="11" creationId="{4829BD2A-8489-303E-2211-B7066BA929FD}"/>
          </ac:spMkLst>
        </pc:spChg>
        <pc:spChg chg="mod">
          <ac:chgData name="Aastha Bhansali" userId="93d4311b03bc96cf" providerId="LiveId" clId="{25E6B215-AF99-48B7-8CA7-2C951D307479}" dt="2026-04-12T13:20:05.186" v="5" actId="20577"/>
          <ac:spMkLst>
            <pc:docMk/>
            <pc:sldMk cId="1163285264" sldId="264"/>
            <ac:spMk id="12" creationId="{7094638F-0E92-1B47-CCA3-62AA7FCF893B}"/>
          </ac:spMkLst>
        </pc:spChg>
        <pc:spChg chg="add mod">
          <ac:chgData name="Aastha Bhansali" userId="93d4311b03bc96cf" providerId="LiveId" clId="{25E6B215-AF99-48B7-8CA7-2C951D307479}" dt="2026-04-12T13:22:38.291" v="96" actId="20577"/>
          <ac:spMkLst>
            <pc:docMk/>
            <pc:sldMk cId="1163285264" sldId="264"/>
            <ac:spMk id="13" creationId="{648B735F-C8B7-CB5D-22C9-335234C9D804}"/>
          </ac:spMkLst>
        </pc:spChg>
        <pc:spChg chg="add mod">
          <ac:chgData name="Aastha Bhansali" userId="93d4311b03bc96cf" providerId="LiveId" clId="{25E6B215-AF99-48B7-8CA7-2C951D307479}" dt="2026-04-12T13:26:22.901" v="162" actId="1076"/>
          <ac:spMkLst>
            <pc:docMk/>
            <pc:sldMk cId="1163285264" sldId="264"/>
            <ac:spMk id="18" creationId="{56E70B24-DE83-99FB-9EF0-5B7A8F7A01D3}"/>
          </ac:spMkLst>
        </pc:spChg>
        <pc:spChg chg="add mod">
          <ac:chgData name="Aastha Bhansali" userId="93d4311b03bc96cf" providerId="LiveId" clId="{25E6B215-AF99-48B7-8CA7-2C951D307479}" dt="2026-04-12T13:25:16.731" v="160" actId="20577"/>
          <ac:spMkLst>
            <pc:docMk/>
            <pc:sldMk cId="1163285264" sldId="264"/>
            <ac:spMk id="19" creationId="{EF0F500B-0B80-09C2-799A-38D74E9A1A0E}"/>
          </ac:spMkLst>
        </pc:spChg>
        <pc:picChg chg="add mod">
          <ac:chgData name="Aastha Bhansali" userId="93d4311b03bc96cf" providerId="LiveId" clId="{25E6B215-AF99-48B7-8CA7-2C951D307479}" dt="2026-04-12T13:26:17.057" v="161" actId="1076"/>
          <ac:picMkLst>
            <pc:docMk/>
            <pc:sldMk cId="1163285264" sldId="264"/>
            <ac:picMk id="15" creationId="{70F5F6D4-5549-7EE0-495C-058CEBEADC78}"/>
          </ac:picMkLst>
        </pc:picChg>
        <pc:picChg chg="add mod">
          <ac:chgData name="Aastha Bhansali" userId="93d4311b03bc96cf" providerId="LiveId" clId="{25E6B215-AF99-48B7-8CA7-2C951D307479}" dt="2026-04-12T13:22:10.819" v="65" actId="1076"/>
          <ac:picMkLst>
            <pc:docMk/>
            <pc:sldMk cId="1163285264" sldId="264"/>
            <ac:picMk id="17" creationId="{96FE23D5-F3B8-5F54-EB2A-92B16C153EE3}"/>
          </ac:picMkLst>
        </pc:picChg>
      </pc:sldChg>
      <pc:sldChg chg="new setBg">
        <pc:chgData name="Aastha Bhansali" userId="93d4311b03bc96cf" providerId="LiveId" clId="{25E6B215-AF99-48B7-8CA7-2C951D307479}" dt="2026-04-12T13:30:27.407" v="244"/>
        <pc:sldMkLst>
          <pc:docMk/>
          <pc:sldMk cId="343521514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776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40FF2-F5C2-4D3E-F3BA-D6558E73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33D52-0414-BD1C-57E4-15A6B776C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5052D-5D83-0E0F-5790-F240678DF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0D421-64CF-C817-CFB3-DDAE4B22B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75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194560" cy="292608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DATA SCIENCE &amp; PYTHON LAB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5029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91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•  Random Forest  •  K-Means Clustering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Flight Data 2024   |   7.07 Million Records   |   35 Features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7268A-B97F-3F54-4BC4-D5C231BF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EF8970-C7E2-5936-DEC3-14ED807CA4F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112492F-606C-630D-0666-72076AA429E9}"/>
              </a:ext>
            </a:extLst>
          </p:cNvPr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596A394-5180-8BE6-7AEB-148D4CAF4E9C}"/>
              </a:ext>
            </a:extLst>
          </p:cNvPr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7447DA-5C66-0E3B-2B5D-8E0B9D0209B6}"/>
              </a:ext>
            </a:extLst>
          </p:cNvPr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FDEF73-E0C0-6A15-B8F8-51F0848E5D72}"/>
              </a:ext>
            </a:extLst>
          </p:cNvPr>
          <p:cNvSpPr/>
          <p:nvPr/>
        </p:nvSpPr>
        <p:spPr>
          <a:xfrm>
            <a:off x="36576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49E1958-5576-A4BF-9B9D-66F4230FD54F}"/>
              </a:ext>
            </a:extLst>
          </p:cNvPr>
          <p:cNvSpPr/>
          <p:nvPr/>
        </p:nvSpPr>
        <p:spPr>
          <a:xfrm>
            <a:off x="365760" y="879151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4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EC55AA2-0DF5-BB4C-C240-1732232BBE7D}"/>
              </a:ext>
            </a:extLst>
          </p:cNvPr>
          <p:cNvSpPr/>
          <p:nvPr/>
        </p:nvSpPr>
        <p:spPr>
          <a:xfrm>
            <a:off x="365760" y="23317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4344495-347C-5B5B-3AFB-3E7BA4F7E30B}"/>
              </a:ext>
            </a:extLst>
          </p:cNvPr>
          <p:cNvSpPr/>
          <p:nvPr/>
        </p:nvSpPr>
        <p:spPr>
          <a:xfrm>
            <a:off x="365760" y="1781252"/>
            <a:ext cx="5029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829BD2A-8489-303E-2211-B7066BA929FD}"/>
              </a:ext>
            </a:extLst>
          </p:cNvPr>
          <p:cNvSpPr/>
          <p:nvPr/>
        </p:nvSpPr>
        <p:spPr>
          <a:xfrm>
            <a:off x="365760" y="3291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094638F-0E92-1B47-CCA3-62AA7FCF893B}"/>
              </a:ext>
            </a:extLst>
          </p:cNvPr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8B735F-C8B7-CB5D-22C9-335234C9D804}"/>
              </a:ext>
            </a:extLst>
          </p:cNvPr>
          <p:cNvSpPr/>
          <p:nvPr/>
        </p:nvSpPr>
        <p:spPr>
          <a:xfrm>
            <a:off x="482803" y="2397798"/>
            <a:ext cx="2194560" cy="1459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HARDIK AGARWAL</a:t>
            </a:r>
            <a:br>
              <a:rPr lang="en-US" dirty="0"/>
            </a:br>
            <a:r>
              <a:rPr lang="en-US" dirty="0"/>
              <a:t>ROLL NO : 02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F5F6D4-5549-7EE0-495C-058CEBEAD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085" y="2389808"/>
            <a:ext cx="2206943" cy="14753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FE23D5-F3B8-5F54-EB2A-92B16C153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488" y="2381820"/>
            <a:ext cx="2206943" cy="14753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E70B24-DE83-99FB-9EF0-5B7A8F7A01D3}"/>
              </a:ext>
            </a:extLst>
          </p:cNvPr>
          <p:cNvSpPr txBox="1"/>
          <p:nvPr/>
        </p:nvSpPr>
        <p:spPr>
          <a:xfrm>
            <a:off x="3507319" y="2825264"/>
            <a:ext cx="220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ASHMIT RAWAT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ROLL NO : 08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0F500B-0B80-09C2-799A-38D74E9A1A0E}"/>
              </a:ext>
            </a:extLst>
          </p:cNvPr>
          <p:cNvSpPr txBox="1"/>
          <p:nvPr/>
        </p:nvSpPr>
        <p:spPr>
          <a:xfrm>
            <a:off x="6557019" y="2765948"/>
            <a:ext cx="220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KAVYA BHANSALI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ROLL NO : 12</a:t>
            </a:r>
          </a:p>
        </p:txBody>
      </p:sp>
    </p:spTree>
    <p:extLst>
      <p:ext uri="{BB962C8B-B14F-4D97-AF65-F5344CB8AC3E}">
        <p14:creationId xmlns:p14="http://schemas.microsoft.com/office/powerpoint/2010/main" val="116328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82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83464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2468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402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flight will be delayed (&gt;15 min) using historical 2024 US domestic flight data from Kaggle.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83464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83464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1691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83280" y="2121408"/>
            <a:ext cx="2468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2402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7,079,081 flights across 35 features including delays, distances, carriers, airports, and time attributes.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283464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960120"/>
            <a:ext cx="283464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55080" y="1691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2121408"/>
            <a:ext cx="24688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2402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(Decision Tree, Random Forest) and unsupervised (K-Means) ML algorithms compared on same test set.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1737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63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7.07M  Flight Records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0" y="4663440"/>
            <a:ext cx="1737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663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35  Features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4663440"/>
            <a:ext cx="1737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663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19.98%  Delayed Flights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0" y="4663440"/>
            <a:ext cx="1737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663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  ML Models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82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692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Cancelled Flights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2161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96,315 flights removed → 6,982,766 remaining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" y="1490472"/>
            <a:ext cx="0" cy="4297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50292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293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nulls filled with column median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" y="2450592"/>
            <a:ext cx="0" cy="4297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74320" y="2880360"/>
            <a:ext cx="50292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8895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1363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categorical columns → numerical (15 carriers, 348 airports)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" y="3410712"/>
            <a:ext cx="0" cy="42976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74320" y="3840480"/>
            <a:ext cx="50292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496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Created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0965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is_delayed = 1 if dep_delay &gt; 15 minutes, else 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0" y="960120"/>
            <a:ext cx="356616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0" y="960120"/>
            <a:ext cx="35661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1024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40680" y="1444752"/>
            <a:ext cx="146304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4447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03720" y="1444752"/>
            <a:ext cx="91440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4447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18120" y="1444752"/>
            <a:ext cx="100584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14447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40680" y="1929384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19293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arr_delay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03720" y="1929384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192938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17,499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818120" y="1929384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19293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0680" y="2414016"/>
            <a:ext cx="1463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4140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actual_elapsed_time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03720" y="2414016"/>
            <a:ext cx="91440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241401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17,499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818120" y="2414016"/>
            <a:ext cx="10058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24140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40680" y="2898648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2898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air_time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903720" y="2898648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8986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17,499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818120" y="2898648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0" y="28986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40680" y="3383280"/>
            <a:ext cx="1463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taxi_in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03720" y="3383280"/>
            <a:ext cx="91440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818120" y="3383280"/>
            <a:ext cx="10058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440680" y="386791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0" y="3867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dep_delay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03720" y="3867912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38679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818120" y="3867912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63840" y="38679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440680" y="4352544"/>
            <a:ext cx="1463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43525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903720" y="4352544"/>
            <a:ext cx="91440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49440" y="43525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818120" y="4352544"/>
            <a:ext cx="10058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63840" y="43525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FEATURE SELECTION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82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Outlier Detection (IQR Method)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1371600" cy="228600"/>
          </a:xfrm>
          <a:prstGeom prst="rect">
            <a:avLst/>
          </a:prstGeom>
          <a:solidFill>
            <a:srgbClr val="0A1628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4173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188720" cy="228600"/>
          </a:xfrm>
          <a:prstGeom prst="rect">
            <a:avLst/>
          </a:prstGeom>
          <a:solidFill>
            <a:srgbClr val="0A1628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14173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dep_delay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1800" y="1417320"/>
            <a:ext cx="1188720" cy="228600"/>
          </a:xfrm>
          <a:prstGeom prst="rect">
            <a:avLst/>
          </a:prstGeom>
          <a:solidFill>
            <a:srgbClr val="0A1628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14173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arr_delay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1645920"/>
            <a:ext cx="1371600" cy="228600"/>
          </a:xfrm>
          <a:prstGeom prst="rect">
            <a:avLst/>
          </a:prstGeom>
          <a:solidFill>
            <a:srgbClr val="EEF2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6459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783080" y="1645920"/>
            <a:ext cx="11887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19656" y="16459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-6.00 min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71800" y="1645920"/>
            <a:ext cx="11887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8376" y="16459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-15.00 min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1874520"/>
            <a:ext cx="1371600" cy="228600"/>
          </a:xfrm>
          <a:prstGeom prst="rect">
            <a:avLst/>
          </a:prstGeom>
          <a:solidFill>
            <a:srgbClr val="EEF2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18745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783080" y="1874520"/>
            <a:ext cx="1188720" cy="228600"/>
          </a:xfrm>
          <a:prstGeom prst="rect">
            <a:avLst/>
          </a:prstGeom>
          <a:solidFill>
            <a:srgbClr val="F8FAFC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19656" y="18745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 min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71800" y="1874520"/>
            <a:ext cx="1188720" cy="228600"/>
          </a:xfrm>
          <a:prstGeom prst="rect">
            <a:avLst/>
          </a:prstGeom>
          <a:solidFill>
            <a:srgbClr val="F8FAFC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08376" y="18745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 min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2103120"/>
            <a:ext cx="1371600" cy="228600"/>
          </a:xfrm>
          <a:prstGeom prst="rect">
            <a:avLst/>
          </a:prstGeom>
          <a:solidFill>
            <a:srgbClr val="EEF2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21031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783080" y="2103120"/>
            <a:ext cx="11887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19656" y="21031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31.50 min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71800" y="2103120"/>
            <a:ext cx="11887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08376" y="21031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45.00 min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2331720"/>
            <a:ext cx="1371600" cy="228600"/>
          </a:xfrm>
          <a:prstGeom prst="rect">
            <a:avLst/>
          </a:prstGeom>
          <a:solidFill>
            <a:srgbClr val="EEF2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" y="23317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Outliers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783080" y="2331720"/>
            <a:ext cx="1188720" cy="228600"/>
          </a:xfrm>
          <a:prstGeom prst="rect">
            <a:avLst/>
          </a:prstGeom>
          <a:solidFill>
            <a:srgbClr val="F8FAFC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19656" y="23317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906,815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71800" y="2331720"/>
            <a:ext cx="1188720" cy="228600"/>
          </a:xfrm>
          <a:prstGeom prst="rect">
            <a:avLst/>
          </a:prstGeom>
          <a:solidFill>
            <a:srgbClr val="F8FAFC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08376" y="23317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665,282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" y="2560320"/>
            <a:ext cx="1371600" cy="228600"/>
          </a:xfrm>
          <a:prstGeom prst="rect">
            <a:avLst/>
          </a:prstGeom>
          <a:solidFill>
            <a:srgbClr val="EEF2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" y="2560320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783080" y="2560320"/>
            <a:ext cx="11887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19656" y="25603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12.99%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71800" y="2560320"/>
            <a:ext cx="118872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08376" y="2560320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9.53%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0" y="960120"/>
            <a:ext cx="429768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0" y="960120"/>
            <a:ext cx="4297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10241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Correlation with Target (is_delayed)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09160" y="14447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crs_dep_time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26480" y="1472184"/>
            <a:ext cx="1790299" cy="1554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62499" y="14447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09160" y="1673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26480" y="1700784"/>
            <a:ext cx="288758" cy="155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60958" y="16733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09160" y="19019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26480" y="1929384"/>
            <a:ext cx="192505" cy="155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64705" y="19019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09160" y="2130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air_time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26480" y="2157984"/>
            <a:ext cx="182880" cy="155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21305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09160" y="2359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26480" y="2386584"/>
            <a:ext cx="298383" cy="155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0583" y="23591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-0.031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09160" y="25877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op_unique_carrier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126480" y="2615184"/>
            <a:ext cx="211756" cy="155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83956" y="258775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-0.022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3017520"/>
            <a:ext cx="859536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1148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Selected Features (after removing multicollinearity)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11480" y="34107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air_time removed (0.982 correlation with distance)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11480" y="3675888"/>
            <a:ext cx="1298448" cy="36576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367588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crs_dep_time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828800" y="3675888"/>
            <a:ext cx="1298448" cy="36576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0" y="367588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46120" y="3675888"/>
            <a:ext cx="1298448" cy="36576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46120" y="367588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63440" y="3675888"/>
            <a:ext cx="1298448" cy="36576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63440" y="367588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080760" y="3675888"/>
            <a:ext cx="1298448" cy="36576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0760" y="367588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op_unique_carrier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98080" y="3675888"/>
            <a:ext cx="1298448" cy="36576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98080" y="367588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1148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80% Training (5,586,212) · 20% Testing (1,396,554) · Stratified by class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82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algorithm that splits data into branches based on feature values, forming a tree-like structure. Each internal node represents a decision rule, while leaf nodes represent outcomes. Trained with class_weight="balanced" to handle class imbalance.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286000" cy="13716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783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65.17%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691640"/>
            <a:ext cx="30175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691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(Delayed)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746504"/>
            <a:ext cx="6400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46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148840"/>
            <a:ext cx="30175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1488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(Delayed)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203704"/>
            <a:ext cx="6400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2037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606040"/>
            <a:ext cx="30175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6060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(Delayed)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660904"/>
            <a:ext cx="6400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660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691640"/>
            <a:ext cx="292608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0" y="1691640"/>
            <a:ext cx="292608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Feature Importance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crs_dep_time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2368296"/>
            <a:ext cx="766779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7539" y="23682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34.94%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5040" y="25877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825496"/>
            <a:ext cx="513966" cy="1463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94726" y="28254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23.42%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3504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3282696"/>
            <a:ext cx="321284" cy="1463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2044" y="32826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14.64%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35040" y="3502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3739896"/>
            <a:ext cx="281782" cy="1463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2542" y="37398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12.84%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35040" y="39593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4197096"/>
            <a:ext cx="195316" cy="1463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6076" y="41970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35040" y="4416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op_unique_carrier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35040" y="4654296"/>
            <a:ext cx="115653" cy="1463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6413" y="46542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5.27%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3200400"/>
            <a:ext cx="54864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1480" y="3246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1480" y="361188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departure time is the strongest predictor (34.94%)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46% of actual delayed flights (recall)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28% precision — many false positives for delays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82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method combining 50 decision trees using bagging and random feature selection. Trained on 100,000 stratified samples with max_depth=15 and class_weight="balanced". Final prediction by majority voting across all trees — reducing overfitting.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28600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783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154680"/>
            <a:ext cx="22860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BEST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691640"/>
            <a:ext cx="30175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691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(Delayed)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746504"/>
            <a:ext cx="6400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746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2148840"/>
            <a:ext cx="30175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21488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(Delayed)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203704"/>
            <a:ext cx="64008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2037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606040"/>
            <a:ext cx="30175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26060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(Delayed)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660904"/>
            <a:ext cx="640080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660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691640"/>
            <a:ext cx="292608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691640"/>
            <a:ext cx="29260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Feature Importance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crs_dep_time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2368296"/>
            <a:ext cx="77226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3026" y="23682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35.19%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35040" y="25877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2825496"/>
            <a:ext cx="454274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5034" y="28254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3504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3282696"/>
            <a:ext cx="346960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7720" y="32826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15.81%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35040" y="3502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3739896"/>
            <a:ext cx="247985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8745" y="37398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35040" y="39593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op_unique_carrier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35040" y="4197096"/>
            <a:ext cx="204533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5293" y="41970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9.32%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35040" y="4416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35040" y="4654296"/>
            <a:ext cx="168542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9302" y="465429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200400"/>
            <a:ext cx="54864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11480" y="3246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11480" y="361188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Decision Tree by ~7% in accuracy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improved to 34% (vs 28% for DT) — fewer false alarms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approach reduces overfitting vs single tree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82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83210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unsupervised algorithm grouping data into K clusters by minimizing within-cluster variance. Applied on 100,000 scaled training samples. Best K selected via silhouette score. Clusters mapped to delay labels based on majority class.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393192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27632"/>
            <a:ext cx="3931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733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Elbow Method — Silhouette Scores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084832"/>
            <a:ext cx="3657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84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k=2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0.1639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40280" y="2148840"/>
            <a:ext cx="1198961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4961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BEST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523744"/>
            <a:ext cx="36576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237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k=3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5237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0.1611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40280" y="2587752"/>
            <a:ext cx="1178479" cy="182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962656"/>
            <a:ext cx="36576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6265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k=4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29626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Silhouette: 0.1402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3026664"/>
            <a:ext cx="1025591" cy="182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627632"/>
            <a:ext cx="448056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1627632"/>
            <a:ext cx="448056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16733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Cluster Analysis Results (Best k=2)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26280" y="2084832"/>
            <a:ext cx="118872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084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2084832"/>
            <a:ext cx="137160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0848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86600" y="2084832"/>
            <a:ext cx="137160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0848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26280" y="2432304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43230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15000" y="2432304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4323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20.86%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86600" y="2432304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24323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18.99%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26280" y="2779776"/>
            <a:ext cx="11887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277977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15000" y="2779776"/>
            <a:ext cx="13716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2779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(0)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86600" y="2779776"/>
            <a:ext cx="137160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2779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(0)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26280" y="3127248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127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15000" y="312724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1272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Both → On-time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86600" y="312724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31272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Fails delay detection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148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Why K-Means "80.02% Accuracy" is Misleading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11480" y="404164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clusters had ~20% delay rates, so both were mapped to "on-time." The model predicts EVERY flight as on-time, achieving 80% accuracy simply because 80% of flights ARE on-time.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Recall for delayed class = 0%  |  Precision = 0%  |  F1-Score = 0.00  |  Accuracy alone is NOT sufficient for imbalanced datasets.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778240" y="18288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1554480" cy="457200"/>
          </a:xfrm>
          <a:prstGeom prst="rect">
            <a:avLst/>
          </a:prstGeom>
          <a:solidFill>
            <a:srgbClr val="1A56DB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960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960120"/>
            <a:ext cx="1097280" cy="457200"/>
          </a:xfrm>
          <a:prstGeom prst="rect">
            <a:avLst/>
          </a:prstGeom>
          <a:solidFill>
            <a:srgbClr val="1A56DB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96012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960120"/>
            <a:ext cx="1097280" cy="457200"/>
          </a:xfrm>
          <a:prstGeom prst="rect">
            <a:avLst/>
          </a:prstGeom>
          <a:solidFill>
            <a:srgbClr val="1A56DB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96012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(Delayed)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960120"/>
            <a:ext cx="1097280" cy="457200"/>
          </a:xfrm>
          <a:prstGeom prst="rect">
            <a:avLst/>
          </a:prstGeom>
          <a:solidFill>
            <a:srgbClr val="1A56DB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59936" y="96012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(Delayed)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960120"/>
            <a:ext cx="1005840" cy="457200"/>
          </a:xfrm>
          <a:prstGeom prst="rect">
            <a:avLst/>
          </a:prstGeom>
          <a:solidFill>
            <a:srgbClr val="1A56DB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96012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1097280" cy="457200"/>
          </a:xfrm>
          <a:prstGeom prst="rect">
            <a:avLst/>
          </a:prstGeom>
          <a:solidFill>
            <a:srgbClr val="1A56DB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96012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435608"/>
            <a:ext cx="15544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43560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1435608"/>
            <a:ext cx="10972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143560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65.17%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1435608"/>
            <a:ext cx="10972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62656" y="143560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1435608"/>
            <a:ext cx="10972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9936" y="143560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1435608"/>
            <a:ext cx="100584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1435608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435608"/>
            <a:ext cx="10972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43560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Partial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1911096"/>
            <a:ext cx="1554480" cy="457200"/>
          </a:xfrm>
          <a:prstGeom prst="rect">
            <a:avLst/>
          </a:prstGeom>
          <a:solidFill>
            <a:srgbClr val="14532D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1911096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0" y="1911096"/>
            <a:ext cx="1097280" cy="457200"/>
          </a:xfrm>
          <a:prstGeom prst="rect">
            <a:avLst/>
          </a:prstGeom>
          <a:solidFill>
            <a:srgbClr val="14532D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191109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72.03%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0" y="1911096"/>
            <a:ext cx="1097280" cy="457200"/>
          </a:xfrm>
          <a:prstGeom prst="rect">
            <a:avLst/>
          </a:prstGeom>
          <a:solidFill>
            <a:srgbClr val="14532D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62656" y="191109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23360" y="1911096"/>
            <a:ext cx="1097280" cy="457200"/>
          </a:xfrm>
          <a:prstGeom prst="rect">
            <a:avLst/>
          </a:prstGeom>
          <a:solidFill>
            <a:srgbClr val="14532D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59936" y="191109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1911096"/>
            <a:ext cx="1005840" cy="457200"/>
          </a:xfrm>
          <a:prstGeom prst="rect">
            <a:avLst/>
          </a:prstGeom>
          <a:solidFill>
            <a:srgbClr val="14532D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57216" y="191109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1911096"/>
            <a:ext cx="1097280" cy="457200"/>
          </a:xfrm>
          <a:prstGeom prst="rect">
            <a:avLst/>
          </a:prstGeom>
          <a:solidFill>
            <a:srgbClr val="14532D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191109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2386584"/>
            <a:ext cx="15544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" y="2386584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0" y="2386584"/>
            <a:ext cx="10972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65376" y="23865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80.02%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26080" y="2386584"/>
            <a:ext cx="10972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62656" y="23865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23360" y="2386584"/>
            <a:ext cx="10972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59936" y="23865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20640" y="2386584"/>
            <a:ext cx="100584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57216" y="238658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26480" y="2386584"/>
            <a:ext cx="1097280" cy="457200"/>
          </a:xfrm>
          <a:prstGeom prst="rect">
            <a:avLst/>
          </a:prstGeom>
          <a:solidFill>
            <a:srgbClr val="0D2145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63056" y="23865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2926080"/>
            <a:ext cx="4023360" cy="1783080"/>
          </a:xfrm>
          <a:prstGeom prst="rect">
            <a:avLst/>
          </a:prstGeom>
          <a:solidFill>
            <a:srgbClr val="14532D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11480" y="2971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Random Forest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11480" y="340156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72.03% overall accuracy
✓  44% recall — identifies nearly half of delayed flights
✓  Provides feature importance insights
✓  Best balance: accuracy + meaningful delay detection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0" y="2926080"/>
            <a:ext cx="4297680" cy="914400"/>
          </a:xfrm>
          <a:prstGeom prst="rect">
            <a:avLst/>
          </a:prstGeom>
          <a:solidFill>
            <a:srgbClr val="0D214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Predictor: Scheduled Departure Time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09160" y="3310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35.19% feature importance across both tree models — later flights face higher delay risk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3931920"/>
            <a:ext cx="4297680" cy="804672"/>
          </a:xfrm>
          <a:prstGeom prst="rect">
            <a:avLst/>
          </a:prstGeom>
          <a:solidFill>
            <a:srgbClr val="0D214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3959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Aviation Insights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709160" y="42336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flights → higher delays  |  Origin airport congestion matters  |  Seasonal patterns significant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 High accuracy alone is insufficient for imbalanced problems — always evaluate Precision, Recall &amp; F1.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21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981</Words>
  <Application>Microsoft Office PowerPoint</Application>
  <PresentationFormat>On-screen Show (16:9)</PresentationFormat>
  <Paragraphs>228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Delay Prediction Using Machine Learning</dc:title>
  <dc:subject>PptxGenJS Presentation</dc:subject>
  <dc:creator>PptxGenJS</dc:creator>
  <cp:lastModifiedBy>Aastha Bhansali</cp:lastModifiedBy>
  <cp:revision>1</cp:revision>
  <dcterms:created xsi:type="dcterms:W3CDTF">2026-04-12T12:45:29Z</dcterms:created>
  <dcterms:modified xsi:type="dcterms:W3CDTF">2026-04-12T13:31:23Z</dcterms:modified>
</cp:coreProperties>
</file>